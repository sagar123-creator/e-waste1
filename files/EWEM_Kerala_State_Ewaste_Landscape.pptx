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53575" y="6496050"/>
            <a:ext cx="2257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Merriweather"/>
              </a:rPr>
              <a:t>Kerala State Pollution Control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64146"/>
            <a:ext cx="6327978" cy="2577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65"/>
              </a:lnSpc>
            </a:pPr>
            <a:r>
              <a:rPr b="1" sz="6150" i="0" u="none">
                <a:solidFill>
                  <a:srgbClr val="1E293B"/>
                </a:solidFill>
                <a:latin typeface="Merriweather"/>
              </a:rPr>
              <a:t>Kerala's E-Waste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317503"/>
            <a:ext cx="4762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DM Sans"/>
              </a:rPr>
              <a:t>Navigating hazardous waste streams, urban mining potential, and the path to a circular economy (FY 2025-26).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127003"/>
            <a:ext cx="4762500" cy="1905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698" y="1271587"/>
            <a:ext cx="2381250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9837"/>
            <a:ext cx="533400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09837"/>
            <a:ext cx="5334000" cy="2647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The Paradox of Digital Waste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0275" y="6496050"/>
            <a:ext cx="1990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Merriweather"/>
              </a:rPr>
              <a:t>Data Source: FY 2025-26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900362"/>
            <a:ext cx="4780597" cy="3429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C0504D"/>
                </a:solidFill>
                <a:latin typeface="Merriweather"/>
              </a:rPr>
              <a:t>The 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33762"/>
            <a:ext cx="4552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38,395.84 Metric Tonnes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of e-waste generated annually statewide. Rapid growth driven by high smartphone penetration and IT-dense urban markets.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900362"/>
            <a:ext cx="4780597" cy="34290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1CAA0"/>
                </a:solidFill>
                <a:latin typeface="Merriweather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433762"/>
            <a:ext cx="45529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75.83% Material Recovery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rate achieved by authorized recyclers. A high-yield secondary supply of critical minerals and rare earth elements (REEs).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938462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938462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8812"/>
            <a:ext cx="11049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E-Waste Composition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91300" y="2767012"/>
            <a:ext cx="3390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IT &amp; Telecom (32.0%)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148012"/>
            <a:ext cx="3390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Consumer Electronics (24.0%)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529012"/>
            <a:ext cx="3390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Large &amp; Small Equipment (20.0%)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3910012"/>
            <a:ext cx="3390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Batteries (10.0%)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4291012"/>
            <a:ext cx="3390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Lighting Equipment (8.0%)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4672012"/>
            <a:ext cx="33909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Others (6.0%)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91300" y="2767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91300" y="3148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91300" y="3529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91300" y="3910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91300" y="4291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91300" y="467201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11049000" cy="4905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Top Generating Districts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5000625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1" u="none">
                <a:solidFill>
                  <a:srgbClr val="334155"/>
                </a:solidFill>
                <a:latin typeface="DM Sans"/>
              </a:rPr>
              <a:t>Average state-wide per-capita generation: 1.15 kg /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81125"/>
            <a:ext cx="53340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Collection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81125"/>
            <a:ext cx="5334000" cy="533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833687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Decentralized Model: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Haritha Karma Sena door-to-door drives are the primary collection channel.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2833687"/>
            <a:ext cx="38100" cy="5715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643312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EPR Framework: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Registered collection centers work in coordination with Clean Kerala Company Ltd (CKCL).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643312"/>
            <a:ext cx="38100" cy="5715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4452937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Efficiency Gap: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Achievement stands at 62.6% against a 100% benchmark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52937"/>
            <a:ext cx="38100" cy="5715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571500"/>
            <a:ext cx="116014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1E293B"/>
                </a:solidFill>
                <a:latin typeface="Merriweather"/>
              </a:rPr>
              <a:t>The Material Adequacy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29287" y="2881312"/>
            <a:ext cx="19050" cy="1905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9162" y="2919412"/>
            <a:ext cx="4048125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05088"/>
                </a:solidFill>
                <a:latin typeface="Merriweather"/>
              </a:rPr>
              <a:t>22.4%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9162" y="4348162"/>
            <a:ext cx="4048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C0504D"/>
                </a:solidFill>
                <a:latin typeface="DM Sans Medium"/>
              </a:rPr>
              <a:t>CAPACITY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337" y="2881312"/>
            <a:ext cx="476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Structural Shortfall: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Current authorized recycling capacity (8,600 t/yr) covers less than a quarter of statewide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337" y="3929062"/>
            <a:ext cx="476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Actual processed throughput accounts for only </a:t>
            </a:r>
            <a:r>
              <a:rPr b="1" sz="1500" i="0" u="none">
                <a:solidFill>
                  <a:srgbClr val="334155"/>
                </a:solidFill>
                <a:latin typeface="DM Sans"/>
              </a:rPr>
              <a:t>15.29%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of total state generation, leaving massive volumes undocumented.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Compliance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443162"/>
          <a:ext cx="11048998" cy="278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514403"/>
                <a:gridCol w="4009429"/>
                <a:gridCol w="2525166"/>
              </a:tblGrid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Merriweather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Merriweather"/>
                        </a:rPr>
                        <a:t>Status /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Merriweather"/>
                        </a:rPr>
                        <a:t>% Achievement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Producer Compliance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8 out of 10 Registered Entities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80.0%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Inspection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8 out of 9 Planned Inspections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88.9%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Environmental Hotspots Monitored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5 out of 6 Identified Sites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83.3%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Penalty/Show-Cause Resolution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DM Sans"/>
                        </a:rPr>
                        <a:t>0 out of 2 Issued Proceedings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0504D"/>
                          </a:solidFill>
                          <a:latin typeface="DM Sans"/>
                        </a:rPr>
                        <a:t>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552825"/>
            <a:ext cx="45144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5903" y="3552825"/>
            <a:ext cx="40094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95333" y="3552825"/>
            <a:ext cx="2525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105275"/>
            <a:ext cx="45144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5903" y="4105275"/>
            <a:ext cx="40094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95333" y="4105275"/>
            <a:ext cx="2525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657725"/>
            <a:ext cx="45144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5903" y="4657725"/>
            <a:ext cx="40094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5333" y="4657725"/>
            <a:ext cx="2525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210175"/>
            <a:ext cx="45144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5903" y="5210175"/>
            <a:ext cx="40094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5333" y="5210175"/>
            <a:ext cx="2525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0"/>
            <a:ext cx="4953000" cy="2238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857250"/>
            <a:ext cx="5000625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Informal Sector Hotspots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857250"/>
            <a:ext cx="76200" cy="104775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57175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Hotspot Integration: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6 sites identified, but only 1 (16.7%) is fully formalized. The majority (50%) remain "Partially Formalized."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095750"/>
            <a:ext cx="46005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1CAA0"/>
                </a:solidFill>
                <a:latin typeface="DM Sans"/>
              </a:rPr>
              <a:t>36.07%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505325"/>
            <a:ext cx="4381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Worker Registration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4953000"/>
            <a:ext cx="43815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5153025"/>
            <a:ext cx="4381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The majority of the estimated 305 workers remain outside formal health and safety safeguards.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09825"/>
            <a:ext cx="5334000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552825"/>
            <a:ext cx="5334000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Environmental &amp; Human Toll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25" y="3733800"/>
            <a:ext cx="10477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0" y="2000250"/>
            <a:ext cx="5600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C0504D"/>
                </a:solidFill>
                <a:latin typeface="Merriweather"/>
              </a:rPr>
              <a:t>Exceedance Flags: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905375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60% of monitored sites recorded toxic levels exceeding prescribed environmental safety limits.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2600325"/>
            <a:ext cx="485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Ernakulam (Site 1):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Soil and Water exceed limits for Lead (Pb) and Cadmium (Cd).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752850"/>
            <a:ext cx="4933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Kozhikode (Site 3):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Water exceeds safe limits for Mercury (Hg).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The Awareness Disconnect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766887"/>
            <a:ext cx="7620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334155"/>
                </a:solidFill>
                <a:latin typeface="DM Sans"/>
              </a:rPr>
              <a:t>Achievement of </a:t>
            </a:r>
            <a:r>
              <a:rPr b="1" sz="2100" i="0" u="none">
                <a:solidFill>
                  <a:srgbClr val="334155"/>
                </a:solidFill>
                <a:latin typeface="DM Sans"/>
              </a:rPr>
              <a:t>30.0%</a:t>
            </a:r>
            <a:r>
              <a:rPr b="0" sz="2100" i="0" u="none">
                <a:solidFill>
                  <a:srgbClr val="334155"/>
                </a:solidFill>
                <a:latin typeface="DM Sans"/>
              </a:rPr>
              <a:t> against benchmark targets. Outreach remains the weakest functional category.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6750" y="4138612"/>
            <a:ext cx="1333500" cy="857250"/>
          </a:xfrm>
          <a:prstGeom prst="roundRect">
            <a:avLst>
              <a:gd name="adj" fmla="val 8888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6750" y="5138737"/>
            <a:ext cx="133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6 Programs</a:t>
            </a:r>
            <a:r>
              <a:t>
</a:t>
            </a:r>
            <a:r>
              <a:rPr b="0" sz="1500" i="0" u="none">
                <a:solidFill>
                  <a:srgbClr val="64748B"/>
                </a:solidFill>
                <a:latin typeface="DM Sans"/>
              </a:rPr>
              <a:t>(Actual)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1750" y="2138362"/>
            <a:ext cx="1333500" cy="2857500"/>
          </a:xfrm>
          <a:prstGeom prst="roundRect">
            <a:avLst>
              <a:gd name="adj" fmla="val 5714"/>
            </a:avLst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750" y="5138737"/>
            <a:ext cx="133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20 Programs</a:t>
            </a:r>
            <a:r>
              <a:t>
</a:t>
            </a:r>
            <a:r>
              <a:rPr b="0" sz="1500" i="0" u="none">
                <a:solidFill>
                  <a:srgbClr val="64748B"/>
                </a:solidFill>
                <a:latin typeface="DM Sans"/>
              </a:rPr>
              <a:t>(Target)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9375"/>
            <a:ext cx="3314700" cy="2143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2619375"/>
            <a:ext cx="3314700" cy="2143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619375"/>
            <a:ext cx="3314700" cy="1857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Roadmap to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5241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58" y="2819400"/>
            <a:ext cx="306038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E293B"/>
                </a:solidFill>
                <a:latin typeface="Merriweather"/>
              </a:rPr>
              <a:t>1. Formalize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228975"/>
            <a:ext cx="2914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Complete formalization of Malappuram and Kozhikode clusters; register 100% of informal workers.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808" y="2819400"/>
            <a:ext cx="306038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E293B"/>
                </a:solidFill>
                <a:latin typeface="Merriweather"/>
              </a:rPr>
              <a:t>2.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675" y="3228975"/>
            <a:ext cx="29146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Expand capacity to 20,000 t/yr; fast-track authorized dismantling units in southern districts.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958" y="2819400"/>
            <a:ext cx="306038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E293B"/>
                </a:solidFill>
                <a:latin typeface="Merriweather"/>
              </a:rPr>
              <a:t>3. Enforce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5825" y="3228975"/>
            <a:ext cx="29146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Resolve all outstanding penalty proceedings and scale quarterly district-wise awareness drives.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14550" y="2200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1700" y="2200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48850" y="2200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5661" y="2014537"/>
            <a:ext cx="5420677" cy="1190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0" i="0" u="none">
                <a:solidFill>
                  <a:srgbClr val="FFFFFF"/>
                </a:solidFill>
                <a:latin typeface="Merriweather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4725" y="3471862"/>
            <a:ext cx="516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11CAA0"/>
                </a:solidFill>
                <a:latin typeface="DM Sans Medium"/>
              </a:rPr>
              <a:t>Toward an Environmentally Sound Kerala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725" y="4443412"/>
            <a:ext cx="516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DM Sans"/>
              </a:rPr>
              <a:t>KERALA STATE POLLUTION CONTROL BOARD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DM Sans"/>
              </a:rPr>
              <a:t> www.keralapcb.nic.in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1E293B"/>
                </a:solidFill>
                <a:latin typeface="Merriweather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03835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98132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92430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971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971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857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857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95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218122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https://upload.wikimedia.org/wikipedia/commons/thumb/8/8b/Language_Map_of_Kerala_%282011_Census%29.svg/250px-Language_Map_of_Kerala_%282011_Census%29.svg.png?utm_source=en.wikipedia.org&amp;utm_campaign=parser&amp;utm_content=thumbnail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0032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en.wikipedia.org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09925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312420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https://media.istockphoto.com/id/1254440706/vector/e-waste-garbage-icon-old-discarded-electronic-waste-to-recycling-symbol-ecology-concept.jpg?s=612x612&amp;w=0&amp;k=20&amp;c=zE96Hdx55nLyLK2jrFWtDm74rEcmg0nRSjj3Wqa6xoU=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354330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www.istockphoto.com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52900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406717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https://png.pngtree.com/png-clipart/20250812/original/pngtree-artificial-intelligence-brain-with-integrated-circuitry-components-and-glowing-lights-isolated-png-image_21726604.png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448627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pngtree.com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10150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50172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https://lookaside.fbsbx.com/lookaside/crawler/media/?media_id=932485019642493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52506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www.facebook.com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