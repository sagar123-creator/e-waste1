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5" Type="http://schemas.openxmlformats.org/officeDocument/2006/relationships/slide" Target="slides/slide4.xml" /><Relationship Id="rId10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5.png" /><Relationship Id="rId4" Type="http://schemas.openxmlformats.org/officeDocument/2006/relationships/image" Target="../media/image4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5.png" /><Relationship Id="rId4" Type="http://schemas.openxmlformats.org/officeDocument/2006/relationships/image" Target="../media/image6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7" Type="http://schemas.openxmlformats.org/officeDocument/2006/relationships/image" Target="../media/image10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5.png" /><Relationship Id="rId5" Type="http://schemas.openxmlformats.org/officeDocument/2006/relationships/image" Target="../media/image9.png" /><Relationship Id="rId4" Type="http://schemas.openxmlformats.org/officeDocument/2006/relationships/image" Target="../media/image8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7325" y="2043261"/>
            <a:ext cx="1657350" cy="4095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95412" y="2833836"/>
            <a:ext cx="9401175" cy="754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sz="5400" b="1" i="0" u="none">
                <a:solidFill>
                  <a:srgbClr val="F8FAFC"/>
                </a:solidFill>
                <a:latin typeface="Outfit"/>
              </a:rPr>
              <a:t>E-Waste Buyback &amp; </a:t>
            </a:r>
            <a:r>
              <a:rPr sz="5400" b="1" i="0" u="none">
                <a:solidFill>
                  <a:srgbClr val="10B981"/>
                </a:solidFill>
                <a:latin typeface="Outfit"/>
              </a:rPr>
              <a:t>Recycling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3873847"/>
            <a:ext cx="8572500" cy="6932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sz="1950" b="0" i="1" u="none">
                <a:solidFill>
                  <a:srgbClr val="CBD5E1"/>
                </a:solidFill>
                <a:latin typeface="Plus Jakarta Sans Light"/>
              </a:rPr>
              <a:t>"If it can be reused, we buy it. If it can be repaired, we refurbish it. If it can't be reused, we connect you to responsible recycling."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809750"/>
            <a:ext cx="5238750" cy="4191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0125" y="1504950"/>
            <a:ext cx="48101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Plus Jakarta Sans"/>
              </a:rPr>
              <a:t>Massive Waste Generation:</a:t>
            </a:r>
            <a:r>
              <a:rPr sz="1500" b="0" i="0" u="none">
                <a:solidFill>
                  <a:srgbClr val="CBD5E1"/>
                </a:solidFill>
                <a:latin typeface="Plus Jakarta Sans"/>
              </a:rPr>
              <a:t> Huge volumes of electronic waste are generated from old phones, laptops, and chargers daily.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125" y="2647950"/>
            <a:ext cx="48101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Plus Jakarta Sans"/>
              </a:rPr>
              <a:t>Lack of Valuation:</a:t>
            </a:r>
            <a:r>
              <a:rPr sz="1500" b="0" i="0" u="none">
                <a:solidFill>
                  <a:srgbClr val="CBD5E1"/>
                </a:solidFill>
                <a:latin typeface="Plus Jakarta Sans"/>
              </a:rPr>
              <a:t> People are largely unaware of the actual resale value of their aging devices.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3486150"/>
            <a:ext cx="48101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Plus Jakarta Sans"/>
              </a:rPr>
              <a:t>Premature Disposal:</a:t>
            </a:r>
            <a:r>
              <a:rPr sz="1500" b="0" i="0" u="none">
                <a:solidFill>
                  <a:srgbClr val="CBD5E1"/>
                </a:solidFill>
                <a:latin typeface="Plus Jakarta Sans"/>
              </a:rPr>
              <a:t> Usable electronics are often discarded instead of being repaired or reused.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4324350"/>
            <a:ext cx="48101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Plus Jakarta Sans"/>
              </a:rPr>
              <a:t>Inaccessible Recycling:</a:t>
            </a:r>
            <a:r>
              <a:rPr sz="1500" b="0" i="0" u="none">
                <a:solidFill>
                  <a:srgbClr val="CBD5E1"/>
                </a:solidFill>
                <a:latin typeface="Plus Jakarta Sans"/>
              </a:rPr>
              <a:t> Users struggle to find reliable, authorized recycling facilities nearby.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5162550"/>
            <a:ext cx="48101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Plus Jakarta Sans"/>
              </a:rPr>
              <a:t>Environmental Hazard:</a:t>
            </a:r>
            <a:r>
              <a:rPr sz="1500" b="0" i="0" u="none">
                <a:solidFill>
                  <a:srgbClr val="CBD5E1"/>
                </a:solidFill>
                <a:latin typeface="Plus Jakarta Sans"/>
              </a:rPr>
              <a:t> Improper disposal significantly increases environmental pollution and toxicity.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1819275"/>
            <a:ext cx="5219700" cy="41719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55245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Outfit SemiBold"/>
              </a:rPr>
              <a:t>The </a:t>
            </a:r>
            <a:r>
              <a:rPr sz="3600" b="0" i="0" u="none">
                <a:solidFill>
                  <a:srgbClr val="10B981"/>
                </a:solidFill>
                <a:latin typeface="Outfit SemiBold"/>
              </a:rPr>
              <a:t>Problem</a:t>
            </a:r>
            <a:r>
              <a:rPr sz="3600" b="0" i="0" u="none">
                <a:solidFill>
                  <a:srgbClr val="F8FAFC"/>
                </a:solidFill>
                <a:latin typeface="Outfit SemiBold"/>
              </a:rPr>
              <a:t> Statement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524000"/>
            <a:ext cx="22860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667000"/>
            <a:ext cx="228600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05200"/>
            <a:ext cx="228600" cy="247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343400"/>
            <a:ext cx="228600" cy="247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181600"/>
            <a:ext cx="22860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809750"/>
            <a:ext cx="5238750" cy="4191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460301"/>
            <a:ext cx="523875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F8FAFC"/>
                </a:solidFill>
                <a:latin typeface="Plus Jakarta Sans"/>
              </a:rPr>
              <a:t>A unified platform providing buyback, refurbishment, and authorized recycling services.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125" y="2368748"/>
            <a:ext cx="48101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Plus Jakarta Sans"/>
              </a:rPr>
              <a:t>AI-Based Valuation:</a:t>
            </a:r>
            <a:r>
              <a:rPr sz="1500" b="0" i="0" u="none">
                <a:solidFill>
                  <a:srgbClr val="CBD5E1"/>
                </a:solidFill>
                <a:latin typeface="Plus Jakarta Sans"/>
              </a:rPr>
              <a:t> Instant, accurate pricing based on device condition.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3206948"/>
            <a:ext cx="48101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Plus Jakarta Sans"/>
              </a:rPr>
              <a:t>Doorstep Pickup:</a:t>
            </a:r>
            <a:r>
              <a:rPr sz="1500" b="0" i="0" u="none">
                <a:solidFill>
                  <a:srgbClr val="CBD5E1"/>
                </a:solidFill>
                <a:latin typeface="Plus Jakarta Sans"/>
              </a:rPr>
              <a:t> Hassle-free logistics directly from the user.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4045148"/>
            <a:ext cx="48101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Plus Jakarta Sans"/>
              </a:rPr>
              <a:t>Refurbish &amp; Resale:</a:t>
            </a:r>
            <a:r>
              <a:rPr sz="1500" b="0" i="0" u="none">
                <a:solidFill>
                  <a:srgbClr val="CBD5E1"/>
                </a:solidFill>
                <a:latin typeface="Plus Jakarta Sans"/>
              </a:rPr>
              <a:t> Restoring usable devices for the circular economy.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4883348"/>
            <a:ext cx="48101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Plus Jakarta Sans"/>
              </a:rPr>
              <a:t>Recycler Network:</a:t>
            </a:r>
            <a:r>
              <a:rPr sz="1500" b="0" i="0" u="none">
                <a:solidFill>
                  <a:srgbClr val="CBD5E1"/>
                </a:solidFill>
                <a:latin typeface="Plus Jakarta Sans"/>
              </a:rPr>
              <a:t> Built-in locator for the nearest authorized recycling units.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5721548"/>
            <a:ext cx="48101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Plus Jakarta Sans"/>
              </a:rPr>
              <a:t>Impact Tracking:</a:t>
            </a:r>
            <a:r>
              <a:rPr sz="1500" b="0" i="0" u="none">
                <a:solidFill>
                  <a:srgbClr val="CBD5E1"/>
                </a:solidFill>
                <a:latin typeface="Plus Jakarta Sans"/>
              </a:rPr>
              <a:t> Digital recycling confirmation and environmental tracking.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1819275"/>
            <a:ext cx="5219700" cy="41719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298251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Outfit SemiBold"/>
              </a:rPr>
              <a:t>Our </a:t>
            </a:r>
            <a:r>
              <a:rPr sz="3600" b="0" i="0" u="none">
                <a:solidFill>
                  <a:srgbClr val="10B981"/>
                </a:solidFill>
                <a:latin typeface="Outfit SemiBold"/>
              </a:rPr>
              <a:t>Solution</a:t>
            </a:r>
            <a:r>
              <a:rPr sz="3600" b="0" i="0" u="none">
                <a:solidFill>
                  <a:srgbClr val="F8FAFC"/>
                </a:solidFill>
                <a:latin typeface="Outfit SemiBold"/>
              </a:rPr>
              <a:t> &amp; Process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387798"/>
            <a:ext cx="228600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225998"/>
            <a:ext cx="228600" cy="247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064198"/>
            <a:ext cx="228600" cy="247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902398"/>
            <a:ext cx="228600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740598"/>
            <a:ext cx="22860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9" y="1543200"/>
            <a:ext cx="5524501" cy="503857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1143000"/>
            <a:ext cx="5238750" cy="547598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9913" y="5883774"/>
            <a:ext cx="4399849" cy="6000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0582" y="1625040"/>
            <a:ext cx="4680585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0B981"/>
                </a:solidFill>
                <a:latin typeface="Outfit SemiBold"/>
              </a:rPr>
              <a:t>Expected Revenue Streams</a:t>
            </a:r>
          </a:p>
        </p:txBody>
      </p:sp>
      <p:sp>
        <p:nvSpPr>
          <p:cNvPr id="7" name="Rectangle 6"/>
          <p:cNvSpPr/>
          <p:nvPr/>
        </p:nvSpPr>
        <p:spPr>
          <a:xfrm>
            <a:off x="962025" y="2486025"/>
            <a:ext cx="44577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57988" y="1423987"/>
            <a:ext cx="468058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0B981"/>
                </a:solidFill>
                <a:latin typeface="Outfit SemiBold"/>
              </a:rPr>
              <a:t>Execution Timeline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6772275" y="2486025"/>
            <a:ext cx="44577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90662" y="2184865"/>
            <a:ext cx="40290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Plus Jakarta Sans"/>
              </a:rPr>
              <a:t>Resale Margins:</a:t>
            </a:r>
            <a:r>
              <a:rPr sz="1500" b="0" i="0" u="none">
                <a:solidFill>
                  <a:srgbClr val="CBD5E1"/>
                </a:solidFill>
                <a:latin typeface="Plus Jakarta Sans"/>
              </a:rPr>
              <a:t> Profit from buying, refurbishing, and selling.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2092" y="2876550"/>
            <a:ext cx="40290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Plus Jakarta Sans"/>
              </a:rPr>
              <a:t>Platform Commissions:</a:t>
            </a:r>
            <a:r>
              <a:rPr sz="1500" b="0" i="0" u="none">
                <a:solidFill>
                  <a:srgbClr val="CBD5E1"/>
                </a:solidFill>
                <a:latin typeface="Plus Jakarta Sans"/>
              </a:rPr>
              <a:t> 5–15% fee on facilitated transactions.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2092" y="3714750"/>
            <a:ext cx="40290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Plus Jakarta Sans"/>
              </a:rPr>
              <a:t>Recycling Fees:</a:t>
            </a:r>
            <a:r>
              <a:rPr sz="1500" b="0" i="0" u="none">
                <a:solidFill>
                  <a:srgbClr val="CBD5E1"/>
                </a:solidFill>
                <a:latin typeface="Plus Jakarta Sans"/>
              </a:rPr>
              <a:t> Recycler partnership and processing fees.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76375" y="4493602"/>
            <a:ext cx="40290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Plus Jakarta Sans"/>
              </a:rPr>
              <a:t>B2B Contracts:</a:t>
            </a:r>
            <a:r>
              <a:rPr sz="1500" b="0" i="0" u="none">
                <a:solidFill>
                  <a:srgbClr val="CBD5E1"/>
                </a:solidFill>
                <a:latin typeface="Plus Jakarta Sans"/>
              </a:rPr>
              <a:t> Corporate e-waste management services.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150" y="5391150"/>
            <a:ext cx="40290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Plus Jakarta Sans"/>
              </a:rPr>
              <a:t>Logistics:</a:t>
            </a:r>
            <a:r>
              <a:rPr sz="1500" b="0" i="0" u="none">
                <a:solidFill>
                  <a:srgbClr val="CBD5E1"/>
                </a:solidFill>
                <a:latin typeface="Plus Jakarta Sans"/>
              </a:rPr>
              <a:t> Premium doorstep pickup charges.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4925" y="6048375"/>
            <a:ext cx="4057650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F8FAFC"/>
                </a:solidFill>
                <a:latin typeface="Plus Jakarta Sans SemiBold"/>
              </a:rPr>
              <a:t>Target: </a:t>
            </a:r>
            <a:r>
              <a:rPr sz="1650" b="0" i="0" u="none">
                <a:solidFill>
                  <a:srgbClr val="10B981"/>
                </a:solidFill>
                <a:latin typeface="Plus Jakarta Sans SemiBold"/>
              </a:rPr>
              <a:t>₹30–40 Lakh</a:t>
            </a:r>
            <a:r>
              <a:rPr sz="1650" b="0" i="0" u="none">
                <a:solidFill>
                  <a:srgbClr val="F8FAFC"/>
                </a:solidFill>
                <a:latin typeface="Plus Jakarta Sans SemiBold"/>
              </a:rPr>
              <a:t> Revenue in Year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6097" y="2038350"/>
            <a:ext cx="40290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Plus Jakarta Sans"/>
              </a:rPr>
              <a:t>Month 1:</a:t>
            </a:r>
            <a:r>
              <a:rPr sz="1500" b="0" i="0" u="none">
                <a:solidFill>
                  <a:srgbClr val="CBD5E1"/>
                </a:solidFill>
                <a:latin typeface="Plus Jakarta Sans"/>
              </a:rPr>
              <a:t> Market research &amp; strategic planning.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83498" y="2489688"/>
            <a:ext cx="40290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Plus Jakarta Sans"/>
              </a:rPr>
              <a:t>Month 2–3:</a:t>
            </a:r>
            <a:r>
              <a:rPr sz="1500" b="0" i="0" u="none">
                <a:solidFill>
                  <a:srgbClr val="CBD5E1"/>
                </a:solidFill>
                <a:latin typeface="Plus Jakarta Sans"/>
              </a:rPr>
              <a:t> Minimum Viable Product (MVP) development.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900" y="3458674"/>
            <a:ext cx="40290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Plus Jakarta Sans"/>
              </a:rPr>
              <a:t>Month 3–4:</a:t>
            </a:r>
            <a:r>
              <a:rPr sz="1500" b="0" i="0" u="none">
                <a:solidFill>
                  <a:srgbClr val="CBD5E1"/>
                </a:solidFill>
                <a:latin typeface="Plus Jakarta Sans"/>
              </a:rPr>
              <a:t> AI valuation system integration.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55484" y="4134032"/>
            <a:ext cx="40290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Plus Jakarta Sans"/>
              </a:rPr>
              <a:t>Month 4–5:</a:t>
            </a:r>
            <a:r>
              <a:rPr sz="1500" b="0" i="0" u="none">
                <a:solidFill>
                  <a:srgbClr val="CBD5E1"/>
                </a:solidFill>
                <a:latin typeface="Plus Jakarta Sans"/>
              </a:rPr>
              <a:t> Finalize recycler &amp; refurbisher partnerships.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7692" y="4947871"/>
            <a:ext cx="40290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Plus Jakarta Sans"/>
              </a:rPr>
              <a:t>Month 6:</a:t>
            </a:r>
            <a:r>
              <a:rPr sz="1500" b="0" i="0" u="none">
                <a:solidFill>
                  <a:srgbClr val="CBD5E1"/>
                </a:solidFill>
                <a:latin typeface="Plus Jakarta Sans"/>
              </a:rPr>
              <a:t> Pilot launch in target zones.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95" y="5676534"/>
            <a:ext cx="4029075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Plus Jakarta Sans"/>
              </a:rPr>
              <a:t>Month 7–12:</a:t>
            </a:r>
            <a:r>
              <a:rPr sz="1500" b="0" i="0" u="none">
                <a:solidFill>
                  <a:srgbClr val="CBD5E1"/>
                </a:solidFill>
                <a:latin typeface="Plus Jakarta Sans"/>
              </a:rPr>
              <a:t> System optimization &amp; market expansion.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Outfit SemiBold"/>
              </a:rPr>
              <a:t>Business </a:t>
            </a:r>
            <a:r>
              <a:rPr sz="3600" b="0" i="0" u="none">
                <a:solidFill>
                  <a:srgbClr val="10B981"/>
                </a:solidFill>
                <a:latin typeface="Outfit SemiBold"/>
              </a:rPr>
              <a:t>Model</a:t>
            </a:r>
            <a:r>
              <a:rPr sz="3600" b="0" i="0" u="none">
                <a:solidFill>
                  <a:srgbClr val="F8FAFC"/>
                </a:solidFill>
                <a:latin typeface="Outfit SemiBold"/>
              </a:rPr>
              <a:t> &amp; Roadmap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791" y="2238375"/>
            <a:ext cx="228600" cy="2476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4290" y="2933700"/>
            <a:ext cx="228600" cy="2476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772" y="3752850"/>
            <a:ext cx="228600" cy="2476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462" y="4572000"/>
            <a:ext cx="228600" cy="2476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" y="5428884"/>
            <a:ext cx="228600" cy="2476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4886" y="2555081"/>
            <a:ext cx="228600" cy="2476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6025" y="3529379"/>
            <a:ext cx="228600" cy="2476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4886" y="4200525"/>
            <a:ext cx="228600" cy="2476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4189" y="5000625"/>
            <a:ext cx="228600" cy="2476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7010" y="5750926"/>
            <a:ext cx="228600" cy="2476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0347" y="2085975"/>
            <a:ext cx="22860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667125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66875" y="3561457"/>
            <a:ext cx="9953625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CBD5E1"/>
                </a:solidFill>
                <a:latin typeface="Plus Jakarta Sans"/>
              </a:rPr>
              <a:t>https://static.vecteezy.com/system/resources/previews/053/913/474/large_2x/piles-of-electronic-waste-fill-a-landfill-site-under-a-cloudy-sky-at-midday-photo.jpeg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4005262"/>
            <a:ext cx="99536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www.vecteezy.com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F8FAFC"/>
                </a:solidFill>
                <a:latin typeface="Outfit SemiBold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Divesh Jadhav</cp:lastModifiedBy>
  <cp:revision>2</cp:revision>
  <dcterms:created xsi:type="dcterms:W3CDTF">2013-01-27T09:14:16Z</dcterms:created>
  <dcterms:modified xsi:type="dcterms:W3CDTF">2026-08-24T09:21:54Z</dcterms:modified>
  <cp:category/>
</cp:coreProperties>
</file>